
<file path=[Content_Types].xml><?xml version="1.0" encoding="utf-8"?>
<Types xmlns="http://schemas.openxmlformats.org/package/2006/content-types">
  <Default Extension="rels" ContentType="application/vnd.openxmlformats-package.relationships+xml"/>
  <Default Extension="xml" ContentType="application/xml"/>
  <Default Extension="png" ContentType="image/png"/>
  <Override PartName="/ppt/presentation.xml" ContentType="application/vnd.openxmlformats-officedocument.presentationml.presentation.main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</Types>
</file>

<file path=_rels/.rels><?xml version="1.0" encoding="UTF-8" standalone="yes"?>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>
  <p:sldIdLst>
    <p:sldId id="257" r:id="rId1"/>
    <p:sldId id="258" r:id="rId2"/>
    <p:sldId id="259" r:id="rId3"/>
    <p:sldId id="260" r:id="rId4"/>
    <p:sldId id="261" r:id="rId5"/>
    <p:sldId id="262" r:id="rId6"/>
    <p:sldId id="263" r:id="rId7"/>
    <p:sldId id="264" r:id="rId8"/>
    <p:sldId id="265" r:id="rId9"/>
    <p:sldId id="266" r:id="rId10"/>
    <p:sldId id="267" r:id="rId11"/>
    <p:sldId id="268" r:id="rId12"/>
    <p:sldId id="269" r:id="rId13"/>
    <p:sldId id="270" r:id="rId14"/>
    <p:sldId id="271" r:id="rId15"/>
    <p:sldId id="272" r:id="rId16"/>
    <p:sldId id="273" r:id="rId17"/>
    <p:sldId id="274" r:id="rId18"/>
  </p:sldIdLst>
  <p:sldSz cx="12191999" cy="6858000" type="wide"/>
  <p:notesSz cx="6858000" cy="9144000"/>
</p:presentation>
</file>

<file path=ppt/_rels/presentation.xml.rels><?xml version="1.0" encoding="UTF-8" standalone="yes"?><Relationships xmlns="http://schemas.openxmlformats.org/package/2006/relationships"><Relationship Id="rId1" Type="http://schemas.openxmlformats.org/officeDocument/2006/relationships/slide" Target="slides/slide1.xml"/><Relationship Id="rId2" Type="http://schemas.openxmlformats.org/officeDocument/2006/relationships/slide" Target="slides/slide2.xml"/><Relationship Id="rId3" Type="http://schemas.openxmlformats.org/officeDocument/2006/relationships/slide" Target="slides/slide3.xml"/><Relationship Id="rId4" Type="http://schemas.openxmlformats.org/officeDocument/2006/relationships/slide" Target="slides/slide4.xml"/><Relationship Id="rId5" Type="http://schemas.openxmlformats.org/officeDocument/2006/relationships/slide" Target="slides/slide5.xml"/><Relationship Id="rId6" Type="http://schemas.openxmlformats.org/officeDocument/2006/relationships/slide" Target="slides/slide6.xml"/><Relationship Id="rId7" Type="http://schemas.openxmlformats.org/officeDocument/2006/relationships/slide" Target="slides/slide7.xml"/><Relationship Id="rId8" Type="http://schemas.openxmlformats.org/officeDocument/2006/relationships/slide" Target="slides/slide8.xml"/><Relationship Id="rId9" Type="http://schemas.openxmlformats.org/officeDocument/2006/relationships/slide" Target="slides/slide9.xml"/><Relationship Id="rId10" Type="http://schemas.openxmlformats.org/officeDocument/2006/relationships/slide" Target="slides/slide10.xml"/><Relationship Id="rId11" Type="http://schemas.openxmlformats.org/officeDocument/2006/relationships/slide" Target="slides/slide11.xml"/><Relationship Id="rId12" Type="http://schemas.openxmlformats.org/officeDocument/2006/relationships/slide" Target="slides/slide12.xml"/><Relationship Id="rId13" Type="http://schemas.openxmlformats.org/officeDocument/2006/relationships/slide" Target="slides/slide13.xml"/><Relationship Id="rId14" Type="http://schemas.openxmlformats.org/officeDocument/2006/relationships/slide" Target="slides/slide14.xml"/><Relationship Id="rId15" Type="http://schemas.openxmlformats.org/officeDocument/2006/relationships/slide" Target="slides/slide15.xml"/><Relationship Id="rId16" Type="http://schemas.openxmlformats.org/officeDocument/2006/relationships/slide" Target="slides/slide16.xml"/><Relationship Id="rId17" Type="http://schemas.openxmlformats.org/officeDocument/2006/relationships/slide" Target="slides/slide17.xml"/><Relationship Id="rId18" Type="http://schemas.openxmlformats.org/officeDocument/2006/relationships/slide" Target="slides/slide18.xml"/></Relationships>
</file>

<file path=ppt/slides/_rels/slide1.xml.rels><?xml version="1.0" encoding="UTF-8" standalone="yes"?><Relationships xmlns="http://schemas.openxmlformats.org/package/2006/relationships"><Relationship Id="rId1" Type="http://schemas.openxmlformats.org/officeDocument/2006/relationships/image" Target="../media/image11.png"/></Relationships>
</file>

<file path=ppt/slides/_rels/slide2.xml.rels><?xml version="1.0" encoding="UTF-8" standalone="yes"?><Relationships xmlns="http://schemas.openxmlformats.org/package/2006/relationships"><Relationship Id="rId1" Type="http://schemas.openxmlformats.org/officeDocument/2006/relationships/image" Target="../media/image6.png"/></Relationships>
</file>

<file path=ppt/slides/_rels/slide3.xml.rels><?xml version="1.0" encoding="UTF-8" standalone="yes"?><Relationships xmlns="http://schemas.openxmlformats.org/package/2006/relationships"><Relationship Id="rId1" Type="http://schemas.openxmlformats.org/officeDocument/2006/relationships/image" Target="../media/image3.png"/></Relationships>
</file>

<file path=ppt/slides/_rels/slide4.xml.rels><?xml version="1.0" encoding="UTF-8" standalone="yes"?><Relationships xmlns="http://schemas.openxmlformats.org/package/2006/relationships"><Relationship Id="rId1" Type="http://schemas.openxmlformats.org/officeDocument/2006/relationships/image" Target="../media/image10.png"/></Relationships>
</file>

<file path=ppt/slides/_rels/slide5.xml.rels><?xml version="1.0" encoding="UTF-8" standalone="yes"?><Relationships xmlns="http://schemas.openxmlformats.org/package/2006/relationships"><Relationship Id="rId1" Type="http://schemas.openxmlformats.org/officeDocument/2006/relationships/image" Target="../media/image7.png"/><Relationship Id="rId2" Type="http://schemas.openxmlformats.org/officeDocument/2006/relationships/image" Target="../media/image8.png"/></Relationships>
</file>

<file path=ppt/slides/_rels/slide6.xml.rels><?xml version="1.0" encoding="UTF-8" standalone="yes"?><Relationships xmlns="http://schemas.openxmlformats.org/package/2006/relationships"><Relationship Id="rId1" Type="http://schemas.openxmlformats.org/officeDocument/2006/relationships/image" Target="../media/image9.png"/></Relationships>
</file>

<file path=ppt/slides/_rels/slide7.xml.rels><?xml version="1.0" encoding="UTF-8" standalone="yes"?><Relationships xmlns="http://schemas.openxmlformats.org/package/2006/relationships"></Relationships>
</file>

<file path=ppt/slides/_rels/slide8.xml.rels><?xml version="1.0" encoding="UTF-8" standalone="yes"?><Relationships xmlns="http://schemas.openxmlformats.org/package/2006/relationships"></Relationships>
</file>

<file path=ppt/slides/_rels/slide9.xml.rels><?xml version="1.0" encoding="UTF-8" standalone="yes"?><Relationships xmlns="http://schemas.openxmlformats.org/package/2006/relationships"><Relationship Id="rId1" Type="http://schemas.openxmlformats.org/officeDocument/2006/relationships/image" Target="../media/image3.png"/></Relationships>
</file>

<file path=ppt/slides/_rels/slide10.xml.rels><?xml version="1.0" encoding="UTF-8" standalone="yes"?><Relationships xmlns="http://schemas.openxmlformats.org/package/2006/relationships"><Relationship Id="rId1" Type="http://schemas.openxmlformats.org/officeDocument/2006/relationships/image" Target="../media/image12.png"/></Relationships>
</file>

<file path=ppt/slides/_rels/slide11.xml.rels><?xml version="1.0" encoding="UTF-8" standalone="yes"?><Relationships xmlns="http://schemas.openxmlformats.org/package/2006/relationships"><Relationship Id="rId1" Type="http://schemas.openxmlformats.org/officeDocument/2006/relationships/image" Target="../media/image4.png"/></Relationships>
</file>

<file path=ppt/slides/_rels/slide12.xml.rels><?xml version="1.0" encoding="UTF-8" standalone="yes"?><Relationships xmlns="http://schemas.openxmlformats.org/package/2006/relationships"><Relationship Id="rId1" Type="http://schemas.openxmlformats.org/officeDocument/2006/relationships/image" Target="../media/image1.png"/></Relationships>
</file>

<file path=ppt/slides/_rels/slide13.xml.rels><?xml version="1.0" encoding="UTF-8" standalone="yes"?><Relationships xmlns="http://schemas.openxmlformats.org/package/2006/relationships"><Relationship Id="rId1" Type="http://schemas.openxmlformats.org/officeDocument/2006/relationships/image" Target="../media/image5.png"/></Relationships>
</file>

<file path=ppt/slides/_rels/slide14.xml.rels><?xml version="1.0" encoding="UTF-8" standalone="yes"?><Relationships xmlns="http://schemas.openxmlformats.org/package/2006/relationships"><Relationship Id="rId1" Type="http://schemas.openxmlformats.org/officeDocument/2006/relationships/image" Target="../media/image2.png"/></Relationships>
</file>

<file path=ppt/slides/_rels/slide15.xml.rels><?xml version="1.0" encoding="UTF-8" standalone="yes"?><Relationships xmlns="http://schemas.openxmlformats.org/package/2006/relationships"><Relationship Id="rId1" Type="http://schemas.openxmlformats.org/officeDocument/2006/relationships/image" Target="../media/image9.png"/></Relationships>
</file>

<file path=ppt/slides/_rels/slide16.xml.rels><?xml version="1.0" encoding="UTF-8" standalone="yes"?><Relationships xmlns="http://schemas.openxmlformats.org/package/2006/relationships"><Relationship Id="rId1" Type="http://schemas.openxmlformats.org/officeDocument/2006/relationships/image" Target="../media/image1.png"/></Relationships>
</file>

<file path=ppt/slides/_rels/slide17.xml.rels><?xml version="1.0" encoding="UTF-8" standalone="yes"?><Relationships xmlns="http://schemas.openxmlformats.org/package/2006/relationships"><Relationship Id="rId1" Type="http://schemas.openxmlformats.org/officeDocument/2006/relationships/image" Target="../media/image9.png"/></Relationships>
</file>

<file path=ppt/slides/_rels/slide18.xml.rels><?xml version="1.0" encoding="UTF-8" standalone="yes"?><Relationships xmlns="http://schemas.openxmlformats.org/package/2006/relationships"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8FAFC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icture 2"/>
          <p:cNvPicPr/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1999" cy="6858000"/>
          </a:xfrm>
          <a:prstGeom prst="rect">
            <a:avLst/>
          </a:prstGeom>
        </p:spPr>
      </p:pic>
      <p:sp>
        <p:nvSpPr>
          <p:cNvPr id="3" name="Text 3"/>
          <p:cNvSpPr txBox="1"/>
          <p:nvPr/>
        </p:nvSpPr>
        <p:spPr>
          <a:xfrm>
            <a:off x="640080" y="3977639"/>
            <a:ext cx="6217920" cy="822960"/>
          </a:xfrm>
          <a:prstGeom prst="rect">
            <a:avLst/>
          </a:prstGeom>
          <a:noFill/>
          <a:ln>
            <a:noFill/>
          </a:ln>
        </p:spPr>
        <p:txBody>
          <a:bodyPr wrap="square"/>
          <a:lstStyle/>
          <a:p>
            <a:r>
              <a:rPr lang="en-US" sz="4600" b="1">
                <a:solidFill>
                  <a:srgbClr val="FFFFFF"/>
                </a:solidFill>
              </a:rPr>
              <a:t>RoboRoll Coatings</a:t>
            </a:r>
          </a:p>
        </p:txBody>
      </p:sp>
      <p:sp>
        <p:nvSpPr>
          <p:cNvPr id="4" name="Text 4"/>
          <p:cNvSpPr txBox="1"/>
          <p:nvPr/>
        </p:nvSpPr>
        <p:spPr>
          <a:xfrm>
            <a:off x="685800" y="4800600"/>
            <a:ext cx="6035040" cy="731520"/>
          </a:xfrm>
          <a:prstGeom prst="rect">
            <a:avLst/>
          </a:prstGeom>
          <a:noFill/>
          <a:ln>
            <a:noFill/>
          </a:ln>
        </p:spPr>
        <p:txBody>
          <a:bodyPr wrap="square"/>
          <a:lstStyle/>
          <a:p>
            <a:r>
              <a:rPr lang="en-US" sz="2200" b="0">
                <a:solidFill>
                  <a:srgbClr val="E5EDF7"/>
                </a:solidFill>
              </a:rPr>
              <a:t>Robotic wall painting for faster, safer, more repeatable interior finishing.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8FAFC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2"/>
          <p:cNvSpPr txBox="1"/>
          <p:nvPr/>
        </p:nvSpPr>
        <p:spPr>
          <a:xfrm>
            <a:off x="594360" y="457200"/>
            <a:ext cx="5120640" cy="320040"/>
          </a:xfrm>
          <a:prstGeom prst="rect">
            <a:avLst/>
          </a:prstGeom>
          <a:noFill/>
          <a:ln>
            <a:noFill/>
          </a:ln>
        </p:spPr>
        <p:txBody>
          <a:bodyPr wrap="square"/>
          <a:lstStyle/>
          <a:p>
            <a:r>
              <a:rPr lang="en-US" sz="1200" b="1">
                <a:solidFill>
                  <a:srgbClr val="1F6FEB"/>
                </a:solidFill>
              </a:rPr>
              <a:t>1. The problem</a:t>
            </a:r>
          </a:p>
        </p:txBody>
      </p:sp>
      <p:sp>
        <p:nvSpPr>
          <p:cNvPr id="3" name="Text 3"/>
          <p:cNvSpPr txBox="1"/>
          <p:nvPr/>
        </p:nvSpPr>
        <p:spPr>
          <a:xfrm>
            <a:off x="594360" y="841248"/>
            <a:ext cx="5303520" cy="1463040"/>
          </a:xfrm>
          <a:prstGeom prst="rect">
            <a:avLst/>
          </a:prstGeom>
          <a:noFill/>
          <a:ln>
            <a:noFill/>
          </a:ln>
        </p:spPr>
        <p:txBody>
          <a:bodyPr wrap="square"/>
          <a:lstStyle/>
          <a:p>
            <a:r>
              <a:rPr lang="en-US" sz="3000" b="1">
                <a:solidFill>
                  <a:srgbClr val="17202A"/>
                </a:solidFill>
              </a:rPr>
              <a:t>Interior painting is still a manual bottleneck.</a:t>
            </a:r>
          </a:p>
        </p:txBody>
      </p:sp>
      <p:sp>
        <p:nvSpPr>
          <p:cNvPr id="4" name="Bullets 4"/>
          <p:cNvSpPr txBox="1"/>
          <p:nvPr/>
        </p:nvSpPr>
        <p:spPr>
          <a:xfrm>
            <a:off x="621792" y="2514600"/>
            <a:ext cx="5120640" cy="3383280"/>
          </a:xfrm>
          <a:prstGeom prst="rect">
            <a:avLst/>
          </a:prstGeom>
          <a:noFill/>
          <a:ln>
            <a:noFill/>
          </a:ln>
        </p:spPr>
        <p:txBody>
          <a:bodyPr wrap="square"/>
          <a:lstStyle/>
          <a:p>
            <a:pPr marL="342900" indent="-228600">
              <a:buChar char="•"/>
            </a:pPr>
            <a:r>
              <a:rPr lang="en-US" sz="2000">
                <a:solidFill>
                  <a:srgbClr val="334155"/>
                </a:solidFill>
              </a:rPr>
              <a:t>Repetitive wall coverage consumes crew hours.</a:t>
            </a:r>
          </a:p>
          <a:p>
            <a:pPr marL="342900" indent="-228600">
              <a:buChar char="•"/>
            </a:pPr>
            <a:r>
              <a:rPr lang="en-US" sz="2000">
                <a:solidFill>
                  <a:srgbClr val="334155"/>
                </a:solidFill>
              </a:rPr>
              <a:t>Quality changes with fatigue, reach, lighting, and setup consistency.</a:t>
            </a:r>
          </a:p>
          <a:p>
            <a:pPr marL="342900" indent="-228600">
              <a:buChar char="•"/>
            </a:pPr>
            <a:r>
              <a:rPr lang="en-US" sz="2000">
                <a:solidFill>
                  <a:srgbClr val="334155"/>
                </a:solidFill>
              </a:rPr>
              <a:t>Labor bottlenecks delay final construction turnover.</a:t>
            </a:r>
          </a:p>
        </p:txBody>
      </p:sp>
      <p:pic>
        <p:nvPicPr>
          <p:cNvPr id="5" name="Picture 5"/>
          <p:cNvPicPr/>
          <p:nvPr/>
        </p:nvPicPr>
        <p:blipFill>
          <a:blip r:embed="rId1"/>
          <a:stretch>
            <a:fillRect/>
          </a:stretch>
        </p:blipFill>
        <p:spPr>
          <a:xfrm>
            <a:off x="6320631" y="777240"/>
            <a:ext cx="4960937" cy="5303520"/>
          </a:xfrm>
          <a:prstGeom prst="rect">
            <a:avLst/>
          </a:prstGeom>
        </p:spPr>
      </p:pic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8FAFC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2"/>
          <p:cNvSpPr txBox="1"/>
          <p:nvPr/>
        </p:nvSpPr>
        <p:spPr>
          <a:xfrm>
            <a:off x="594360" y="457200"/>
            <a:ext cx="5120640" cy="320040"/>
          </a:xfrm>
          <a:prstGeom prst="rect">
            <a:avLst/>
          </a:prstGeom>
          <a:noFill/>
          <a:ln>
            <a:noFill/>
          </a:ln>
        </p:spPr>
        <p:txBody>
          <a:bodyPr wrap="square"/>
          <a:lstStyle/>
          <a:p>
            <a:r>
              <a:rPr lang="en-US" sz="1200" b="1">
                <a:solidFill>
                  <a:srgbClr val="1F6FEB"/>
                </a:solidFill>
              </a:rPr>
              <a:t>2. Why it matters</a:t>
            </a:r>
          </a:p>
        </p:txBody>
      </p:sp>
      <p:sp>
        <p:nvSpPr>
          <p:cNvPr id="3" name="Text 3"/>
          <p:cNvSpPr txBox="1"/>
          <p:nvPr/>
        </p:nvSpPr>
        <p:spPr>
          <a:xfrm>
            <a:off x="594360" y="841248"/>
            <a:ext cx="5303520" cy="1463040"/>
          </a:xfrm>
          <a:prstGeom prst="rect">
            <a:avLst/>
          </a:prstGeom>
          <a:noFill/>
          <a:ln>
            <a:noFill/>
          </a:ln>
        </p:spPr>
        <p:txBody>
          <a:bodyPr wrap="square"/>
          <a:lstStyle/>
          <a:p>
            <a:r>
              <a:rPr lang="en-US" sz="3000" b="1">
                <a:solidFill>
                  <a:srgbClr val="17202A"/>
                </a:solidFill>
              </a:rPr>
              <a:t>Construction needs focused automation that helps crews now.</a:t>
            </a:r>
          </a:p>
        </p:txBody>
      </p:sp>
      <p:sp>
        <p:nvSpPr>
          <p:cNvPr id="4" name="Bullets 4"/>
          <p:cNvSpPr txBox="1"/>
          <p:nvPr/>
        </p:nvSpPr>
        <p:spPr>
          <a:xfrm>
            <a:off x="621792" y="2514600"/>
            <a:ext cx="5120640" cy="3383280"/>
          </a:xfrm>
          <a:prstGeom prst="rect">
            <a:avLst/>
          </a:prstGeom>
          <a:noFill/>
          <a:ln>
            <a:noFill/>
          </a:ln>
        </p:spPr>
        <p:txBody>
          <a:bodyPr wrap="square"/>
          <a:lstStyle/>
          <a:p>
            <a:pPr marL="342900" indent="-228600">
              <a:buChar char="•"/>
            </a:pPr>
            <a:r>
              <a:rPr lang="en-US" sz="2000">
                <a:solidFill>
                  <a:srgbClr val="334155"/>
                </a:solidFill>
              </a:rPr>
              <a:t>Painting appears across apartments, commercial spaces, and new builds.</a:t>
            </a:r>
          </a:p>
          <a:p>
            <a:pPr marL="342900" indent="-228600">
              <a:buChar char="•"/>
            </a:pPr>
            <a:r>
              <a:rPr lang="en-US" sz="2000">
                <a:solidFill>
                  <a:srgbClr val="334155"/>
                </a:solidFill>
              </a:rPr>
              <a:t>Large wall areas create predictable paths that a robot can execute.</a:t>
            </a:r>
          </a:p>
          <a:p>
            <a:pPr marL="342900" indent="-228600">
              <a:buChar char="•"/>
            </a:pPr>
            <a:r>
              <a:rPr lang="en-US" sz="2000">
                <a:solidFill>
                  <a:srgbClr val="334155"/>
                </a:solidFill>
              </a:rPr>
              <a:t>Fewer rework passes mean more predictable finishing timelines.</a:t>
            </a:r>
          </a:p>
        </p:txBody>
      </p:sp>
      <p:pic>
        <p:nvPicPr>
          <p:cNvPr id="5" name="Picture 5"/>
          <p:cNvPicPr/>
          <p:nvPr/>
        </p:nvPicPr>
        <p:blipFill>
          <a:blip r:embed="rId1"/>
          <a:stretch>
            <a:fillRect/>
          </a:stretch>
        </p:blipFill>
        <p:spPr>
          <a:xfrm>
            <a:off x="6080760" y="1925429"/>
            <a:ext cx="5440680" cy="3007141"/>
          </a:xfrm>
          <a:prstGeom prst="rect">
            <a:avLst/>
          </a:prstGeom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8FAFC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2"/>
          <p:cNvSpPr txBox="1"/>
          <p:nvPr/>
        </p:nvSpPr>
        <p:spPr>
          <a:xfrm>
            <a:off x="594360" y="457200"/>
            <a:ext cx="5120640" cy="320040"/>
          </a:xfrm>
          <a:prstGeom prst="rect">
            <a:avLst/>
          </a:prstGeom>
          <a:noFill/>
          <a:ln>
            <a:noFill/>
          </a:ln>
        </p:spPr>
        <p:txBody>
          <a:bodyPr wrap="square"/>
          <a:lstStyle/>
          <a:p>
            <a:r>
              <a:rPr lang="en-US" sz="1200" b="1">
                <a:solidFill>
                  <a:srgbClr val="1F6FEB"/>
                </a:solidFill>
              </a:rPr>
              <a:t>3. The solution</a:t>
            </a:r>
          </a:p>
        </p:txBody>
      </p:sp>
      <p:sp>
        <p:nvSpPr>
          <p:cNvPr id="3" name="Text 3"/>
          <p:cNvSpPr txBox="1"/>
          <p:nvPr/>
        </p:nvSpPr>
        <p:spPr>
          <a:xfrm>
            <a:off x="594360" y="841248"/>
            <a:ext cx="5303520" cy="1463040"/>
          </a:xfrm>
          <a:prstGeom prst="rect">
            <a:avLst/>
          </a:prstGeom>
          <a:noFill/>
          <a:ln>
            <a:noFill/>
          </a:ln>
        </p:spPr>
        <p:txBody>
          <a:bodyPr wrap="square"/>
          <a:lstStyle/>
          <a:p>
            <a:r>
              <a:rPr lang="en-US" sz="3000" b="1">
                <a:solidFill>
                  <a:srgbClr val="17202A"/>
                </a:solidFill>
              </a:rPr>
              <a:t>A portable 4-DOF robot that follows planned wall paths.</a:t>
            </a:r>
          </a:p>
        </p:txBody>
      </p:sp>
      <p:sp>
        <p:nvSpPr>
          <p:cNvPr id="4" name="Bullets 4"/>
          <p:cNvSpPr txBox="1"/>
          <p:nvPr/>
        </p:nvSpPr>
        <p:spPr>
          <a:xfrm>
            <a:off x="621792" y="2514600"/>
            <a:ext cx="5120640" cy="3383280"/>
          </a:xfrm>
          <a:prstGeom prst="rect">
            <a:avLst/>
          </a:prstGeom>
          <a:noFill/>
          <a:ln>
            <a:noFill/>
          </a:ln>
        </p:spPr>
        <p:txBody>
          <a:bodyPr wrap="square"/>
          <a:lstStyle/>
          <a:p>
            <a:pPr marL="342900" indent="-228600">
              <a:buChar char="•"/>
            </a:pPr>
            <a:r>
              <a:rPr lang="en-US" sz="2000">
                <a:solidFill>
                  <a:srgbClr val="334155"/>
                </a:solidFill>
              </a:rPr>
              <a:t>Base yaw aims the arm around the room.</a:t>
            </a:r>
          </a:p>
          <a:p>
            <a:pPr marL="342900" indent="-228600">
              <a:buChar char="•"/>
            </a:pPr>
            <a:r>
              <a:rPr lang="en-US" sz="2000">
                <a:solidFill>
                  <a:srgbClr val="334155"/>
                </a:solidFill>
              </a:rPr>
              <a:t>Shoulder, elbow, and wrist place the nozzle on target.</a:t>
            </a:r>
          </a:p>
          <a:p>
            <a:pPr marL="342900" indent="-228600">
              <a:buChar char="•"/>
            </a:pPr>
            <a:r>
              <a:rPr lang="en-US" sz="2000">
                <a:solidFill>
                  <a:srgbClr val="334155"/>
                </a:solidFill>
              </a:rPr>
              <a:t>Inverse kinematics converts wall points into smooth joint motion.</a:t>
            </a:r>
          </a:p>
        </p:txBody>
      </p:sp>
      <p:pic>
        <p:nvPicPr>
          <p:cNvPr id="5" name="Picture 5"/>
          <p:cNvPicPr/>
          <p:nvPr/>
        </p:nvPicPr>
        <p:blipFill>
          <a:blip r:embed="rId1"/>
          <a:stretch>
            <a:fillRect/>
          </a:stretch>
        </p:blipFill>
        <p:spPr>
          <a:xfrm>
            <a:off x="6320631" y="777240"/>
            <a:ext cx="4960937" cy="5303520"/>
          </a:xfrm>
          <a:prstGeom prst="rect">
            <a:avLst/>
          </a:prstGeom>
        </p:spPr>
      </p:pic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8FAFC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2"/>
          <p:cNvSpPr txBox="1"/>
          <p:nvPr/>
        </p:nvSpPr>
        <p:spPr>
          <a:xfrm>
            <a:off x="594360" y="457200"/>
            <a:ext cx="5120640" cy="320040"/>
          </a:xfrm>
          <a:prstGeom prst="rect">
            <a:avLst/>
          </a:prstGeom>
          <a:noFill/>
          <a:ln>
            <a:noFill/>
          </a:ln>
        </p:spPr>
        <p:txBody>
          <a:bodyPr wrap="square"/>
          <a:lstStyle/>
          <a:p>
            <a:r>
              <a:rPr lang="en-US" sz="1200" b="1">
                <a:solidFill>
                  <a:srgbClr val="1F6FEB"/>
                </a:solidFill>
              </a:rPr>
              <a:t>4. Product demo</a:t>
            </a:r>
          </a:p>
        </p:txBody>
      </p:sp>
      <p:sp>
        <p:nvSpPr>
          <p:cNvPr id="3" name="Text 3"/>
          <p:cNvSpPr txBox="1"/>
          <p:nvPr/>
        </p:nvSpPr>
        <p:spPr>
          <a:xfrm>
            <a:off x="594360" y="841248"/>
            <a:ext cx="5303520" cy="1463040"/>
          </a:xfrm>
          <a:prstGeom prst="rect">
            <a:avLst/>
          </a:prstGeom>
          <a:noFill/>
          <a:ln>
            <a:noFill/>
          </a:ln>
        </p:spPr>
        <p:txBody>
          <a:bodyPr wrap="square"/>
          <a:lstStyle/>
          <a:p>
            <a:r>
              <a:rPr lang="en-US" sz="3000" b="1">
                <a:solidFill>
                  <a:srgbClr val="17202A"/>
                </a:solidFill>
              </a:rPr>
              <a:t>The simulated robot already paints across two walls.</a:t>
            </a:r>
          </a:p>
        </p:txBody>
      </p:sp>
      <p:sp>
        <p:nvSpPr>
          <p:cNvPr id="4" name="Bullets 4"/>
          <p:cNvSpPr txBox="1"/>
          <p:nvPr/>
        </p:nvSpPr>
        <p:spPr>
          <a:xfrm>
            <a:off x="621792" y="2514600"/>
            <a:ext cx="5120640" cy="3383280"/>
          </a:xfrm>
          <a:prstGeom prst="rect">
            <a:avLst/>
          </a:prstGeom>
          <a:noFill/>
          <a:ln>
            <a:noFill/>
          </a:ln>
        </p:spPr>
        <p:txBody>
          <a:bodyPr wrap="square"/>
          <a:lstStyle/>
          <a:p>
            <a:pPr marL="342900" indent="-228600">
              <a:buChar char="•"/>
            </a:pPr>
            <a:r>
              <a:rPr lang="en-US" sz="2000">
                <a:solidFill>
                  <a:srgbClr val="334155"/>
                </a:solidFill>
              </a:rPr>
              <a:t>Wall 1: five horizontal color stripes.</a:t>
            </a:r>
          </a:p>
          <a:p>
            <a:pPr marL="342900" indent="-228600">
              <a:buChar char="•"/>
            </a:pPr>
            <a:r>
              <a:rPr lang="en-US" sz="2000">
                <a:solidFill>
                  <a:srgbClr val="334155"/>
                </a:solidFill>
              </a:rPr>
              <a:t>Wall 2: face outline, eyes, and smile arc.</a:t>
            </a:r>
          </a:p>
          <a:p>
            <a:pPr marL="342900" indent="-228600">
              <a:buChar char="•"/>
            </a:pPr>
            <a:r>
              <a:rPr lang="en-US" sz="2000">
                <a:solidFill>
                  <a:srgbClr val="334155"/>
                </a:solidFill>
              </a:rPr>
              <a:t>Curved paths prove more than straight-line coverage.</a:t>
            </a:r>
          </a:p>
        </p:txBody>
      </p:sp>
      <p:pic>
        <p:nvPicPr>
          <p:cNvPr id="5" name="Picture 5"/>
          <p:cNvPicPr/>
          <p:nvPr/>
        </p:nvPicPr>
        <p:blipFill>
          <a:blip r:embed="rId1"/>
          <a:stretch>
            <a:fillRect/>
          </a:stretch>
        </p:blipFill>
        <p:spPr>
          <a:xfrm>
            <a:off x="7374924" y="502920"/>
            <a:ext cx="2852352" cy="2560320"/>
          </a:xfrm>
          <a:prstGeom prst="rect">
            <a:avLst/>
          </a:prstGeom>
        </p:spPr>
      </p:pic>
      <p:pic>
        <p:nvPicPr>
          <p:cNvPr id="6" name="Picture 6"/>
          <p:cNvPicPr/>
          <p:nvPr/>
        </p:nvPicPr>
        <p:blipFill>
          <a:blip r:embed="rId2"/>
          <a:stretch>
            <a:fillRect/>
          </a:stretch>
        </p:blipFill>
        <p:spPr>
          <a:xfrm>
            <a:off x="7374924" y="3474720"/>
            <a:ext cx="2852352" cy="2560320"/>
          </a:xfrm>
          <a:prstGeom prst="rect">
            <a:avLst/>
          </a:prstGeom>
        </p:spPr>
      </p:pic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8FAFC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2"/>
          <p:cNvSpPr txBox="1"/>
          <p:nvPr/>
        </p:nvSpPr>
        <p:spPr>
          <a:xfrm>
            <a:off x="594360" y="457200"/>
            <a:ext cx="5120640" cy="320040"/>
          </a:xfrm>
          <a:prstGeom prst="rect">
            <a:avLst/>
          </a:prstGeom>
          <a:noFill/>
          <a:ln>
            <a:noFill/>
          </a:ln>
        </p:spPr>
        <p:txBody>
          <a:bodyPr wrap="square"/>
          <a:lstStyle/>
          <a:p>
            <a:r>
              <a:rPr lang="en-US" sz="1200" b="1">
                <a:solidFill>
                  <a:srgbClr val="1F6FEB"/>
                </a:solidFill>
              </a:rPr>
              <a:t>5. Why we win</a:t>
            </a:r>
          </a:p>
        </p:txBody>
      </p:sp>
      <p:sp>
        <p:nvSpPr>
          <p:cNvPr id="3" name="Text 3"/>
          <p:cNvSpPr txBox="1"/>
          <p:nvPr/>
        </p:nvSpPr>
        <p:spPr>
          <a:xfrm>
            <a:off x="594360" y="841248"/>
            <a:ext cx="5303520" cy="1463040"/>
          </a:xfrm>
          <a:prstGeom prst="rect">
            <a:avLst/>
          </a:prstGeom>
          <a:noFill/>
          <a:ln>
            <a:noFill/>
          </a:ln>
        </p:spPr>
        <p:txBody>
          <a:bodyPr wrap="square"/>
          <a:lstStyle/>
          <a:p>
            <a:r>
              <a:rPr lang="en-US" sz="3000" b="1">
                <a:solidFill>
                  <a:srgbClr val="17202A"/>
                </a:solidFill>
              </a:rPr>
              <a:t>RoboRoll starts with one focused construction task.</a:t>
            </a:r>
          </a:p>
        </p:txBody>
      </p:sp>
      <p:sp>
        <p:nvSpPr>
          <p:cNvPr id="4" name="Bullets 4"/>
          <p:cNvSpPr txBox="1"/>
          <p:nvPr/>
        </p:nvSpPr>
        <p:spPr>
          <a:xfrm>
            <a:off x="621792" y="2514600"/>
            <a:ext cx="5120640" cy="3383280"/>
          </a:xfrm>
          <a:prstGeom prst="rect">
            <a:avLst/>
          </a:prstGeom>
          <a:noFill/>
          <a:ln>
            <a:noFill/>
          </a:ln>
        </p:spPr>
        <p:txBody>
          <a:bodyPr wrap="square"/>
          <a:lstStyle/>
          <a:p>
            <a:pPr marL="342900" indent="-228600">
              <a:buChar char="•"/>
            </a:pPr>
            <a:r>
              <a:rPr lang="en-US" sz="2000">
                <a:solidFill>
                  <a:srgbClr val="334155"/>
                </a:solidFill>
              </a:rPr>
              <a:t>Interior wall finishing is narrow enough for a first product.</a:t>
            </a:r>
          </a:p>
          <a:p>
            <a:pPr marL="342900" indent="-228600">
              <a:buChar char="•"/>
            </a:pPr>
            <a:r>
              <a:rPr lang="en-US" sz="2000">
                <a:solidFill>
                  <a:srgbClr val="334155"/>
                </a:solidFill>
              </a:rPr>
              <a:t>FK, IK, trajectory generation, and dynamics are already simulated.</a:t>
            </a:r>
          </a:p>
          <a:p>
            <a:pPr marL="342900" indent="-228600">
              <a:buChar char="•"/>
            </a:pPr>
            <a:r>
              <a:rPr lang="en-US" sz="2000">
                <a:solidFill>
                  <a:srgbClr val="334155"/>
                </a:solidFill>
              </a:rPr>
              <a:t>Seed funding turns the validated simulation into a portable prototype.</a:t>
            </a:r>
          </a:p>
        </p:txBody>
      </p:sp>
      <p:pic>
        <p:nvPicPr>
          <p:cNvPr id="5" name="Picture 5"/>
          <p:cNvPicPr/>
          <p:nvPr/>
        </p:nvPicPr>
        <p:blipFill>
          <a:blip r:embed="rId1"/>
          <a:stretch>
            <a:fillRect/>
          </a:stretch>
        </p:blipFill>
        <p:spPr>
          <a:xfrm>
            <a:off x="6080760" y="1743155"/>
            <a:ext cx="5440680" cy="3371689"/>
          </a:xfrm>
          <a:prstGeom prst="rect">
            <a:avLst/>
          </a:prstGeom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111827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2"/>
          <p:cNvSpPr txBox="1"/>
          <p:nvPr/>
        </p:nvSpPr>
        <p:spPr>
          <a:xfrm>
            <a:off x="1143000" y="2240280"/>
            <a:ext cx="9875520" cy="822960"/>
          </a:xfrm>
          <a:prstGeom prst="rect">
            <a:avLst/>
          </a:prstGeom>
          <a:noFill/>
          <a:ln>
            <a:noFill/>
          </a:ln>
        </p:spPr>
        <p:txBody>
          <a:bodyPr wrap="square"/>
          <a:lstStyle/>
          <a:p>
            <a:r>
              <a:rPr lang="en-US" sz="4400" b="1">
                <a:solidFill>
                  <a:srgbClr val="FFFFFF"/>
                </a:solidFill>
              </a:rPr>
              <a:t>Thank You</a:t>
            </a:r>
          </a:p>
        </p:txBody>
      </p:sp>
      <p:sp>
        <p:nvSpPr>
          <p:cNvPr id="3" name="Text 3"/>
          <p:cNvSpPr txBox="1"/>
          <p:nvPr/>
        </p:nvSpPr>
        <p:spPr>
          <a:xfrm>
            <a:off x="1417320" y="3154680"/>
            <a:ext cx="9326880" cy="1280160"/>
          </a:xfrm>
          <a:prstGeom prst="rect">
            <a:avLst/>
          </a:prstGeom>
          <a:noFill/>
          <a:ln>
            <a:noFill/>
          </a:ln>
        </p:spPr>
        <p:txBody>
          <a:bodyPr wrap="square"/>
          <a:lstStyle/>
          <a:p>
            <a:r>
              <a:rPr lang="en-US" sz="2200" b="0">
                <a:solidFill>
                  <a:srgbClr val="E5EDF7"/>
                </a:solidFill>
              </a:rPr>
              <a:t>RoboRoll Coatings
Robotic painting for the next generation of construction crews.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111827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2"/>
          <p:cNvSpPr txBox="1"/>
          <p:nvPr/>
        </p:nvSpPr>
        <p:spPr>
          <a:xfrm>
            <a:off x="1143000" y="2240280"/>
            <a:ext cx="9875520" cy="822960"/>
          </a:xfrm>
          <a:prstGeom prst="rect">
            <a:avLst/>
          </a:prstGeom>
          <a:noFill/>
          <a:ln>
            <a:noFill/>
          </a:ln>
        </p:spPr>
        <p:txBody>
          <a:bodyPr wrap="square"/>
          <a:lstStyle/>
          <a:p>
            <a:r>
              <a:rPr lang="en-US" sz="4400" b="1">
                <a:solidFill>
                  <a:srgbClr val="FFFFFF"/>
                </a:solidFill>
              </a:rPr>
              <a:t>Leave-Behind Slides</a:t>
            </a:r>
          </a:p>
        </p:txBody>
      </p:sp>
      <p:sp>
        <p:nvSpPr>
          <p:cNvPr id="3" name="Text 3"/>
          <p:cNvSpPr txBox="1"/>
          <p:nvPr/>
        </p:nvSpPr>
        <p:spPr>
          <a:xfrm>
            <a:off x="1417320" y="3154680"/>
            <a:ext cx="9326880" cy="1280160"/>
          </a:xfrm>
          <a:prstGeom prst="rect">
            <a:avLst/>
          </a:prstGeom>
          <a:noFill/>
          <a:ln>
            <a:noFill/>
          </a:ln>
        </p:spPr>
        <p:txBody>
          <a:bodyPr wrap="square"/>
          <a:lstStyle/>
          <a:p>
            <a:r>
              <a:rPr lang="en-US" sz="2200" b="0">
                <a:solidFill>
                  <a:srgbClr val="E5EDF7"/>
                </a:solidFill>
              </a:rPr>
              <a:t>The following slides provide the fuller technical, market, and roadmap story.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8FAFC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2"/>
          <p:cNvSpPr txBox="1"/>
          <p:nvPr/>
        </p:nvSpPr>
        <p:spPr>
          <a:xfrm>
            <a:off x="594360" y="457200"/>
            <a:ext cx="5120640" cy="320040"/>
          </a:xfrm>
          <a:prstGeom prst="rect">
            <a:avLst/>
          </a:prstGeom>
          <a:noFill/>
          <a:ln>
            <a:noFill/>
          </a:ln>
        </p:spPr>
        <p:txBody>
          <a:bodyPr wrap="square"/>
          <a:lstStyle/>
          <a:p>
            <a:r>
              <a:rPr lang="en-US" sz="1200" b="1">
                <a:solidFill>
                  <a:srgbClr val="1F6FEB"/>
                </a:solidFill>
              </a:rPr>
              <a:t>A1. Beachhead market</a:t>
            </a:r>
          </a:p>
        </p:txBody>
      </p:sp>
      <p:sp>
        <p:nvSpPr>
          <p:cNvPr id="3" name="Text 3"/>
          <p:cNvSpPr txBox="1"/>
          <p:nvPr/>
        </p:nvSpPr>
        <p:spPr>
          <a:xfrm>
            <a:off x="594360" y="841248"/>
            <a:ext cx="5303520" cy="1463040"/>
          </a:xfrm>
          <a:prstGeom prst="rect">
            <a:avLst/>
          </a:prstGeom>
          <a:noFill/>
          <a:ln>
            <a:noFill/>
          </a:ln>
        </p:spPr>
        <p:txBody>
          <a:bodyPr wrap="square"/>
          <a:lstStyle/>
          <a:p>
            <a:r>
              <a:rPr lang="en-US" sz="3000" b="1">
                <a:solidFill>
                  <a:srgbClr val="17202A"/>
                </a:solidFill>
              </a:rPr>
              <a:t>Start with multifamily apartment turns.</a:t>
            </a:r>
          </a:p>
        </p:txBody>
      </p:sp>
      <p:sp>
        <p:nvSpPr>
          <p:cNvPr id="4" name="Bullets 4"/>
          <p:cNvSpPr txBox="1"/>
          <p:nvPr/>
        </p:nvSpPr>
        <p:spPr>
          <a:xfrm>
            <a:off x="621792" y="2514600"/>
            <a:ext cx="5120640" cy="3383280"/>
          </a:xfrm>
          <a:prstGeom prst="rect">
            <a:avLst/>
          </a:prstGeom>
          <a:noFill/>
          <a:ln>
            <a:noFill/>
          </a:ln>
        </p:spPr>
        <p:txBody>
          <a:bodyPr wrap="square"/>
          <a:lstStyle/>
          <a:p>
            <a:pPr marL="342900" indent="-228600">
              <a:buChar char="•"/>
            </a:pPr>
            <a:r>
              <a:rPr lang="en-US" sz="2000">
                <a:solidFill>
                  <a:srgbClr val="334155"/>
                </a:solidFill>
              </a:rPr>
              <a:t>Similar room layouts create repeatable painting paths.</a:t>
            </a:r>
          </a:p>
          <a:p>
            <a:pPr marL="342900" indent="-228600">
              <a:buChar char="•"/>
            </a:pPr>
            <a:r>
              <a:rPr lang="en-US" sz="2000">
                <a:solidFill>
                  <a:srgbClr val="334155"/>
                </a:solidFill>
              </a:rPr>
              <a:t>Turnover schedules are tight, and labor availability affects move-in dates.</a:t>
            </a:r>
          </a:p>
          <a:p>
            <a:pPr marL="342900" indent="-228600">
              <a:buChar char="•"/>
            </a:pPr>
            <a:r>
              <a:rPr lang="en-US" sz="2000">
                <a:solidFill>
                  <a:srgbClr val="334155"/>
                </a:solidFill>
              </a:rPr>
              <a:t>Commercial interiors and new-build finishing are expansion markets.</a:t>
            </a:r>
          </a:p>
        </p:txBody>
      </p:sp>
      <p:pic>
        <p:nvPicPr>
          <p:cNvPr id="5" name="Picture 5"/>
          <p:cNvPicPr/>
          <p:nvPr/>
        </p:nvPicPr>
        <p:blipFill>
          <a:blip r:embed="rId1"/>
          <a:stretch>
            <a:fillRect/>
          </a:stretch>
        </p:blipFill>
        <p:spPr>
          <a:xfrm>
            <a:off x="6080760" y="1925429"/>
            <a:ext cx="5440680" cy="3007141"/>
          </a:xfrm>
          <a:prstGeom prst="rect">
            <a:avLst/>
          </a:prstGeom>
        </p:spPr>
      </p:pic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8FAFC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2"/>
          <p:cNvSpPr txBox="1"/>
          <p:nvPr/>
        </p:nvSpPr>
        <p:spPr>
          <a:xfrm>
            <a:off x="594360" y="457200"/>
            <a:ext cx="5120640" cy="320040"/>
          </a:xfrm>
          <a:prstGeom prst="rect">
            <a:avLst/>
          </a:prstGeom>
          <a:noFill/>
          <a:ln>
            <a:noFill/>
          </a:ln>
        </p:spPr>
        <p:txBody>
          <a:bodyPr wrap="square"/>
          <a:lstStyle/>
          <a:p>
            <a:r>
              <a:rPr lang="en-US" sz="1200" b="1">
                <a:solidFill>
                  <a:srgbClr val="1F6FEB"/>
                </a:solidFill>
              </a:rPr>
              <a:t>A2. Customer workflow</a:t>
            </a:r>
          </a:p>
        </p:txBody>
      </p:sp>
      <p:sp>
        <p:nvSpPr>
          <p:cNvPr id="3" name="Text 3"/>
          <p:cNvSpPr txBox="1"/>
          <p:nvPr/>
        </p:nvSpPr>
        <p:spPr>
          <a:xfrm>
            <a:off x="594360" y="841248"/>
            <a:ext cx="5303520" cy="1463040"/>
          </a:xfrm>
          <a:prstGeom prst="rect">
            <a:avLst/>
          </a:prstGeom>
          <a:noFill/>
          <a:ln>
            <a:noFill/>
          </a:ln>
        </p:spPr>
        <p:txBody>
          <a:bodyPr wrap="square"/>
          <a:lstStyle/>
          <a:p>
            <a:r>
              <a:rPr lang="en-US" sz="3000" b="1">
                <a:solidFill>
                  <a:srgbClr val="17202A"/>
                </a:solidFill>
              </a:rPr>
              <a:t>RoboRoll helps one operator supervise repeatable wall coverage.</a:t>
            </a:r>
          </a:p>
        </p:txBody>
      </p:sp>
      <p:sp>
        <p:nvSpPr>
          <p:cNvPr id="4" name="Bullets 4"/>
          <p:cNvSpPr txBox="1"/>
          <p:nvPr/>
        </p:nvSpPr>
        <p:spPr>
          <a:xfrm>
            <a:off x="621792" y="2514600"/>
            <a:ext cx="5120640" cy="3383280"/>
          </a:xfrm>
          <a:prstGeom prst="rect">
            <a:avLst/>
          </a:prstGeom>
          <a:noFill/>
          <a:ln>
            <a:noFill/>
          </a:ln>
        </p:spPr>
        <p:txBody>
          <a:bodyPr wrap="square"/>
          <a:lstStyle/>
          <a:p>
            <a:pPr marL="342900" indent="-228600">
              <a:buChar char="•"/>
            </a:pPr>
            <a:r>
              <a:rPr lang="en-US" sz="2000">
                <a:solidFill>
                  <a:srgbClr val="334155"/>
                </a:solidFill>
              </a:rPr>
              <a:t>Position</a:t>
            </a:r>
          </a:p>
          <a:p>
            <a:pPr marL="342900" indent="-228600">
              <a:buChar char="•"/>
            </a:pPr>
            <a:r>
              <a:rPr lang="en-US" sz="2000">
                <a:solidFill>
                  <a:srgbClr val="334155"/>
                </a:solidFill>
              </a:rPr>
              <a:t>Calibrate</a:t>
            </a:r>
          </a:p>
          <a:p>
            <a:pPr marL="342900" indent="-228600">
              <a:buChar char="•"/>
            </a:pPr>
            <a:r>
              <a:rPr lang="en-US" sz="2000">
                <a:solidFill>
                  <a:srgbClr val="334155"/>
                </a:solidFill>
              </a:rPr>
              <a:t>Paint</a:t>
            </a:r>
          </a:p>
          <a:p>
            <a:pPr marL="342900" indent="-228600">
              <a:buChar char="•"/>
            </a:pPr>
            <a:r>
              <a:rPr lang="en-US" sz="2000">
                <a:solidFill>
                  <a:srgbClr val="334155"/>
                </a:solidFill>
              </a:rPr>
              <a:t>Verify</a:t>
            </a:r>
          </a:p>
        </p:txBody>
      </p:sp>
      <p:pic>
        <p:nvPicPr>
          <p:cNvPr id="5" name="Picture 5"/>
          <p:cNvPicPr/>
          <p:nvPr/>
        </p:nvPicPr>
        <p:blipFill>
          <a:blip r:embed="rId1"/>
          <a:stretch>
            <a:fillRect/>
          </a:stretch>
        </p:blipFill>
        <p:spPr>
          <a:xfrm>
            <a:off x="6320631" y="777240"/>
            <a:ext cx="4960937" cy="5303520"/>
          </a:xfrm>
          <a:prstGeom prst="rect">
            <a:avLst/>
          </a:prstGeom>
        </p:spPr>
      </p:pic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8FAFC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2"/>
          <p:cNvSpPr txBox="1"/>
          <p:nvPr/>
        </p:nvSpPr>
        <p:spPr>
          <a:xfrm>
            <a:off x="594360" y="457200"/>
            <a:ext cx="5120640" cy="320040"/>
          </a:xfrm>
          <a:prstGeom prst="rect">
            <a:avLst/>
          </a:prstGeom>
          <a:noFill/>
          <a:ln>
            <a:noFill/>
          </a:ln>
        </p:spPr>
        <p:txBody>
          <a:bodyPr wrap="square"/>
          <a:lstStyle/>
          <a:p>
            <a:r>
              <a:rPr lang="en-US" sz="1200" b="1">
                <a:solidFill>
                  <a:srgbClr val="1F6FEB"/>
                </a:solidFill>
              </a:rPr>
              <a:t>A3. Robot architecture</a:t>
            </a:r>
          </a:p>
        </p:txBody>
      </p:sp>
      <p:sp>
        <p:nvSpPr>
          <p:cNvPr id="3" name="Text 3"/>
          <p:cNvSpPr txBox="1"/>
          <p:nvPr/>
        </p:nvSpPr>
        <p:spPr>
          <a:xfrm>
            <a:off x="594360" y="841248"/>
            <a:ext cx="5303520" cy="1463040"/>
          </a:xfrm>
          <a:prstGeom prst="rect">
            <a:avLst/>
          </a:prstGeom>
          <a:noFill/>
          <a:ln>
            <a:noFill/>
          </a:ln>
        </p:spPr>
        <p:txBody>
          <a:bodyPr wrap="square"/>
          <a:lstStyle/>
          <a:p>
            <a:r>
              <a:rPr lang="en-US" sz="3000" b="1">
                <a:solidFill>
                  <a:srgbClr val="17202A"/>
                </a:solidFill>
              </a:rPr>
              <a:t>The first design is intentionally simple.</a:t>
            </a:r>
          </a:p>
        </p:txBody>
      </p:sp>
      <p:sp>
        <p:nvSpPr>
          <p:cNvPr id="4" name="Bullets 4"/>
          <p:cNvSpPr txBox="1"/>
          <p:nvPr/>
        </p:nvSpPr>
        <p:spPr>
          <a:xfrm>
            <a:off x="621792" y="2514600"/>
            <a:ext cx="5120640" cy="3383280"/>
          </a:xfrm>
          <a:prstGeom prst="rect">
            <a:avLst/>
          </a:prstGeom>
          <a:noFill/>
          <a:ln>
            <a:noFill/>
          </a:ln>
        </p:spPr>
        <p:txBody>
          <a:bodyPr wrap="square"/>
          <a:lstStyle/>
          <a:p>
            <a:pPr marL="342900" indent="-228600">
              <a:buChar char="•"/>
            </a:pPr>
            <a:r>
              <a:rPr lang="en-US" sz="2000">
                <a:solidFill>
                  <a:srgbClr val="334155"/>
                </a:solidFill>
              </a:rPr>
              <a:t>4 revolute joints: base yaw, shoulder pitch, elbow pitch, wrist pitch.</a:t>
            </a:r>
          </a:p>
          <a:p>
            <a:pPr marL="342900" indent="-228600">
              <a:buChar char="•"/>
            </a:pPr>
            <a:r>
              <a:rPr lang="en-US" sz="2000">
                <a:solidFill>
                  <a:srgbClr val="334155"/>
                </a:solidFill>
              </a:rPr>
              <a:t>500 mm base height with 700 mm and 500 mm arm links.</a:t>
            </a:r>
          </a:p>
          <a:p>
            <a:pPr marL="342900" indent="-228600">
              <a:buChar char="•"/>
            </a:pPr>
            <a:r>
              <a:rPr lang="en-US" sz="2000">
                <a:solidFill>
                  <a:srgbClr val="334155"/>
                </a:solidFill>
              </a:rPr>
              <a:t>200 mm nozzle offset for reaching the wall surface.</a:t>
            </a:r>
          </a:p>
        </p:txBody>
      </p:sp>
      <p:pic>
        <p:nvPicPr>
          <p:cNvPr id="5" name="Picture 5"/>
          <p:cNvPicPr/>
          <p:nvPr/>
        </p:nvPicPr>
        <p:blipFill>
          <a:blip r:embed="rId1"/>
          <a:stretch>
            <a:fillRect/>
          </a:stretch>
        </p:blipFill>
        <p:spPr>
          <a:xfrm>
            <a:off x="6320631" y="777240"/>
            <a:ext cx="4960937" cy="5303520"/>
          </a:xfrm>
          <a:prstGeom prst="rect">
            <a:avLst/>
          </a:prstGeom>
        </p:spPr>
      </p:pic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8FAFC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2"/>
          <p:cNvSpPr txBox="1"/>
          <p:nvPr/>
        </p:nvSpPr>
        <p:spPr>
          <a:xfrm>
            <a:off x="594360" y="457200"/>
            <a:ext cx="5120640" cy="320040"/>
          </a:xfrm>
          <a:prstGeom prst="rect">
            <a:avLst/>
          </a:prstGeom>
          <a:noFill/>
          <a:ln>
            <a:noFill/>
          </a:ln>
        </p:spPr>
        <p:txBody>
          <a:bodyPr wrap="square"/>
          <a:lstStyle/>
          <a:p>
            <a:r>
              <a:rPr lang="en-US" sz="1200" b="1">
                <a:solidFill>
                  <a:srgbClr val="1F6FEB"/>
                </a:solidFill>
              </a:rPr>
              <a:t>A4. Kinematics proof</a:t>
            </a:r>
          </a:p>
        </p:txBody>
      </p:sp>
      <p:sp>
        <p:nvSpPr>
          <p:cNvPr id="3" name="Text 3"/>
          <p:cNvSpPr txBox="1"/>
          <p:nvPr/>
        </p:nvSpPr>
        <p:spPr>
          <a:xfrm>
            <a:off x="594360" y="841248"/>
            <a:ext cx="5303520" cy="1463040"/>
          </a:xfrm>
          <a:prstGeom prst="rect">
            <a:avLst/>
          </a:prstGeom>
          <a:noFill/>
          <a:ln>
            <a:noFill/>
          </a:ln>
        </p:spPr>
        <p:txBody>
          <a:bodyPr wrap="square"/>
          <a:lstStyle/>
          <a:p>
            <a:r>
              <a:rPr lang="en-US" sz="3000" b="1">
                <a:solidFill>
                  <a:srgbClr val="17202A"/>
                </a:solidFill>
              </a:rPr>
              <a:t>The robot can turn wall targets into joint commands.</a:t>
            </a:r>
          </a:p>
        </p:txBody>
      </p:sp>
      <p:sp>
        <p:nvSpPr>
          <p:cNvPr id="4" name="Bullets 4"/>
          <p:cNvSpPr txBox="1"/>
          <p:nvPr/>
        </p:nvSpPr>
        <p:spPr>
          <a:xfrm>
            <a:off x="621792" y="2514600"/>
            <a:ext cx="5120640" cy="3383280"/>
          </a:xfrm>
          <a:prstGeom prst="rect">
            <a:avLst/>
          </a:prstGeom>
          <a:noFill/>
          <a:ln>
            <a:noFill/>
          </a:ln>
        </p:spPr>
        <p:txBody>
          <a:bodyPr wrap="square"/>
          <a:lstStyle/>
          <a:p>
            <a:pPr marL="342900" indent="-228600">
              <a:buChar char="•"/>
            </a:pPr>
            <a:r>
              <a:rPr lang="en-US" sz="2000">
                <a:solidFill>
                  <a:srgbClr val="334155"/>
                </a:solidFill>
              </a:rPr>
              <a:t>Forward kinematics verifies the end-effector pose.</a:t>
            </a:r>
          </a:p>
          <a:p>
            <a:pPr marL="342900" indent="-228600">
              <a:buChar char="•"/>
            </a:pPr>
            <a:r>
              <a:rPr lang="en-US" sz="2000">
                <a:solidFill>
                  <a:srgbClr val="334155"/>
                </a:solidFill>
              </a:rPr>
              <a:t>Inverse kinematics solves reachable wall targets.</a:t>
            </a:r>
          </a:p>
          <a:p>
            <a:pPr marL="342900" indent="-228600">
              <a:buChar char="•"/>
            </a:pPr>
            <a:r>
              <a:rPr lang="en-US" sz="2000">
                <a:solidFill>
                  <a:srgbClr val="334155"/>
                </a:solidFill>
              </a:rPr>
              <a:t>Joint limits prevent unrealistic poses during planning.</a:t>
            </a:r>
          </a:p>
        </p:txBody>
      </p:sp>
      <p:pic>
        <p:nvPicPr>
          <p:cNvPr id="5" name="Picture 5"/>
          <p:cNvPicPr/>
          <p:nvPr/>
        </p:nvPicPr>
        <p:blipFill>
          <a:blip r:embed="rId1"/>
          <a:stretch>
            <a:fillRect/>
          </a:stretch>
        </p:blipFill>
        <p:spPr>
          <a:xfrm>
            <a:off x="6320631" y="777240"/>
            <a:ext cx="4960937" cy="5303520"/>
          </a:xfrm>
          <a:prstGeom prst="rect">
            <a:avLst/>
          </a:prstGeom>
        </p:spPr>
      </p:pic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8FAFC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2"/>
          <p:cNvSpPr txBox="1"/>
          <p:nvPr/>
        </p:nvSpPr>
        <p:spPr>
          <a:xfrm>
            <a:off x="594360" y="457200"/>
            <a:ext cx="5120640" cy="320040"/>
          </a:xfrm>
          <a:prstGeom prst="rect">
            <a:avLst/>
          </a:prstGeom>
          <a:noFill/>
          <a:ln>
            <a:noFill/>
          </a:ln>
        </p:spPr>
        <p:txBody>
          <a:bodyPr wrap="square"/>
          <a:lstStyle/>
          <a:p>
            <a:r>
              <a:rPr lang="en-US" sz="1200" b="1">
                <a:solidFill>
                  <a:srgbClr val="1F6FEB"/>
                </a:solidFill>
              </a:rPr>
              <a:t>A5. Demo path details</a:t>
            </a:r>
          </a:p>
        </p:txBody>
      </p:sp>
      <p:sp>
        <p:nvSpPr>
          <p:cNvPr id="3" name="Text 3"/>
          <p:cNvSpPr txBox="1"/>
          <p:nvPr/>
        </p:nvSpPr>
        <p:spPr>
          <a:xfrm>
            <a:off x="594360" y="841248"/>
            <a:ext cx="5303520" cy="1463040"/>
          </a:xfrm>
          <a:prstGeom prst="rect">
            <a:avLst/>
          </a:prstGeom>
          <a:noFill/>
          <a:ln>
            <a:noFill/>
          </a:ln>
        </p:spPr>
        <p:txBody>
          <a:bodyPr wrap="square"/>
          <a:lstStyle/>
          <a:p>
            <a:r>
              <a:rPr lang="en-US" sz="3000" b="1">
                <a:solidFill>
                  <a:srgbClr val="17202A"/>
                </a:solidFill>
              </a:rPr>
              <a:t>The demo combines coverage and detail work.</a:t>
            </a:r>
          </a:p>
        </p:txBody>
      </p:sp>
      <p:sp>
        <p:nvSpPr>
          <p:cNvPr id="4" name="Bullets 4"/>
          <p:cNvSpPr txBox="1"/>
          <p:nvPr/>
        </p:nvSpPr>
        <p:spPr>
          <a:xfrm>
            <a:off x="621792" y="2514600"/>
            <a:ext cx="5120640" cy="3383280"/>
          </a:xfrm>
          <a:prstGeom prst="rect">
            <a:avLst/>
          </a:prstGeom>
          <a:noFill/>
          <a:ln>
            <a:noFill/>
          </a:ln>
        </p:spPr>
        <p:txBody>
          <a:bodyPr wrap="square"/>
          <a:lstStyle/>
          <a:p>
            <a:pPr marL="342900" indent="-228600">
              <a:buChar char="•"/>
            </a:pPr>
            <a:r>
              <a:rPr lang="en-US" sz="2000">
                <a:solidFill>
                  <a:srgbClr val="334155"/>
                </a:solidFill>
              </a:rPr>
              <a:t>343 rendered frames.</a:t>
            </a:r>
          </a:p>
          <a:p>
            <a:pPr marL="342900" indent="-228600">
              <a:buChar char="•"/>
            </a:pPr>
            <a:r>
              <a:rPr lang="en-US" sz="2000">
                <a:solidFill>
                  <a:srgbClr val="334155"/>
                </a:solidFill>
              </a:rPr>
              <a:t>Smoothstep interpolation between IK waypoints.</a:t>
            </a:r>
          </a:p>
          <a:p>
            <a:pPr marL="342900" indent="-228600">
              <a:buChar char="•"/>
            </a:pPr>
            <a:r>
              <a:rPr lang="en-US" sz="2000">
                <a:solidFill>
                  <a:srgbClr val="334155"/>
                </a:solidFill>
              </a:rPr>
              <a:t>Lift motions prevent unwanted diagonal paint marks.</a:t>
            </a:r>
          </a:p>
        </p:txBody>
      </p:sp>
      <p:pic>
        <p:nvPicPr>
          <p:cNvPr id="5" name="Picture 5"/>
          <p:cNvPicPr/>
          <p:nvPr/>
        </p:nvPicPr>
        <p:blipFill>
          <a:blip r:embed="rId1"/>
          <a:stretch>
            <a:fillRect/>
          </a:stretch>
        </p:blipFill>
        <p:spPr>
          <a:xfrm>
            <a:off x="6080760" y="1026188"/>
            <a:ext cx="5440680" cy="4805624"/>
          </a:xfrm>
          <a:prstGeom prst="rect">
            <a:avLst/>
          </a:prstGeom>
        </p:spPr>
      </p:pic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8FAFC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2"/>
          <p:cNvSpPr txBox="1"/>
          <p:nvPr/>
        </p:nvSpPr>
        <p:spPr>
          <a:xfrm>
            <a:off x="594360" y="457200"/>
            <a:ext cx="5120640" cy="320040"/>
          </a:xfrm>
          <a:prstGeom prst="rect">
            <a:avLst/>
          </a:prstGeom>
          <a:noFill/>
          <a:ln>
            <a:noFill/>
          </a:ln>
        </p:spPr>
        <p:txBody>
          <a:bodyPr wrap="square"/>
          <a:lstStyle/>
          <a:p>
            <a:r>
              <a:rPr lang="en-US" sz="1200" b="1">
                <a:solidFill>
                  <a:srgbClr val="1F6FEB"/>
                </a:solidFill>
              </a:rPr>
              <a:t>A6. Dynamics proof</a:t>
            </a:r>
          </a:p>
        </p:txBody>
      </p:sp>
      <p:sp>
        <p:nvSpPr>
          <p:cNvPr id="3" name="Text 3"/>
          <p:cNvSpPr txBox="1"/>
          <p:nvPr/>
        </p:nvSpPr>
        <p:spPr>
          <a:xfrm>
            <a:off x="594360" y="841248"/>
            <a:ext cx="5303520" cy="1463040"/>
          </a:xfrm>
          <a:prstGeom prst="rect">
            <a:avLst/>
          </a:prstGeom>
          <a:noFill/>
          <a:ln>
            <a:noFill/>
          </a:ln>
        </p:spPr>
        <p:txBody>
          <a:bodyPr wrap="square"/>
          <a:lstStyle/>
          <a:p>
            <a:r>
              <a:rPr lang="en-US" sz="3000" b="1">
                <a:solidFill>
                  <a:srgbClr val="17202A"/>
                </a:solidFill>
              </a:rPr>
              <a:t>The simulation includes physical reasoning.</a:t>
            </a:r>
          </a:p>
        </p:txBody>
      </p:sp>
      <p:sp>
        <p:nvSpPr>
          <p:cNvPr id="4" name="Bullets 4"/>
          <p:cNvSpPr txBox="1"/>
          <p:nvPr/>
        </p:nvSpPr>
        <p:spPr>
          <a:xfrm>
            <a:off x="621792" y="2514600"/>
            <a:ext cx="5120640" cy="3383280"/>
          </a:xfrm>
          <a:prstGeom prst="rect">
            <a:avLst/>
          </a:prstGeom>
          <a:noFill/>
          <a:ln>
            <a:noFill/>
          </a:ln>
        </p:spPr>
        <p:txBody>
          <a:bodyPr wrap="square"/>
          <a:lstStyle/>
          <a:p>
            <a:pPr marL="342900" indent="-228600">
              <a:buChar char="•"/>
            </a:pPr>
            <a:r>
              <a:rPr lang="en-US" sz="2000">
                <a:solidFill>
                  <a:srgbClr val="334155"/>
                </a:solidFill>
              </a:rPr>
              <a:t>Passive motion checks kinetic, potential, and total energy behavior.</a:t>
            </a:r>
          </a:p>
          <a:p>
            <a:pPr marL="342900" indent="-228600">
              <a:buChar char="•"/>
            </a:pPr>
            <a:r>
              <a:rPr lang="en-US" sz="2000">
                <a:solidFill>
                  <a:srgbClr val="334155"/>
                </a:solidFill>
              </a:rPr>
              <a:t>PD plus gravity feedforward controls motion to a painting target.</a:t>
            </a:r>
          </a:p>
          <a:p>
            <a:pPr marL="342900" indent="-228600">
              <a:buChar char="•"/>
            </a:pPr>
            <a:r>
              <a:rPr lang="en-US" sz="2000">
                <a:solidFill>
                  <a:srgbClr val="334155"/>
                </a:solidFill>
              </a:rPr>
              <a:t>Torque and velocity plots support physically reasonable motion.</a:t>
            </a:r>
          </a:p>
        </p:txBody>
      </p:sp>
      <p:pic>
        <p:nvPicPr>
          <p:cNvPr id="5" name="Picture 5"/>
          <p:cNvPicPr/>
          <p:nvPr/>
        </p:nvPicPr>
        <p:blipFill>
          <a:blip r:embed="rId1"/>
          <a:stretch>
            <a:fillRect/>
          </a:stretch>
        </p:blipFill>
        <p:spPr>
          <a:xfrm>
            <a:off x="6080760" y="1624758"/>
            <a:ext cx="5440680" cy="3608484"/>
          </a:xfrm>
          <a:prstGeom prst="rect">
            <a:avLst/>
          </a:prstGeom>
        </p:spPr>
      </p:pic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8FAFC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2"/>
          <p:cNvSpPr txBox="1"/>
          <p:nvPr/>
        </p:nvSpPr>
        <p:spPr>
          <a:xfrm>
            <a:off x="594360" y="457200"/>
            <a:ext cx="5120640" cy="320040"/>
          </a:xfrm>
          <a:prstGeom prst="rect">
            <a:avLst/>
          </a:prstGeom>
          <a:noFill/>
          <a:ln>
            <a:noFill/>
          </a:ln>
        </p:spPr>
        <p:txBody>
          <a:bodyPr wrap="square"/>
          <a:lstStyle/>
          <a:p>
            <a:r>
              <a:rPr lang="en-US" sz="1200" b="1">
                <a:solidFill>
                  <a:srgbClr val="1F6FEB"/>
                </a:solidFill>
              </a:rPr>
              <a:t>A7. Development roadmap</a:t>
            </a:r>
          </a:p>
        </p:txBody>
      </p:sp>
      <p:sp>
        <p:nvSpPr>
          <p:cNvPr id="3" name="Text 3"/>
          <p:cNvSpPr txBox="1"/>
          <p:nvPr/>
        </p:nvSpPr>
        <p:spPr>
          <a:xfrm>
            <a:off x="594360" y="841248"/>
            <a:ext cx="5303520" cy="1463040"/>
          </a:xfrm>
          <a:prstGeom prst="rect">
            <a:avLst/>
          </a:prstGeom>
          <a:noFill/>
          <a:ln>
            <a:noFill/>
          </a:ln>
        </p:spPr>
        <p:txBody>
          <a:bodyPr wrap="square"/>
          <a:lstStyle/>
          <a:p>
            <a:r>
              <a:rPr lang="en-US" sz="3000" b="1">
                <a:solidFill>
                  <a:srgbClr val="17202A"/>
                </a:solidFill>
              </a:rPr>
              <a:t>The next milestones move from simulation to hardware.</a:t>
            </a:r>
          </a:p>
        </p:txBody>
      </p:sp>
      <p:sp>
        <p:nvSpPr>
          <p:cNvPr id="4" name="Bullets 4"/>
          <p:cNvSpPr txBox="1"/>
          <p:nvPr/>
        </p:nvSpPr>
        <p:spPr>
          <a:xfrm>
            <a:off x="621792" y="2514600"/>
            <a:ext cx="5120640" cy="3383280"/>
          </a:xfrm>
          <a:prstGeom prst="rect">
            <a:avLst/>
          </a:prstGeom>
          <a:noFill/>
          <a:ln>
            <a:noFill/>
          </a:ln>
        </p:spPr>
        <p:txBody>
          <a:bodyPr wrap="square"/>
          <a:lstStyle/>
          <a:p>
            <a:pPr marL="342900" indent="-228600">
              <a:buChar char="•"/>
            </a:pPr>
            <a:r>
              <a:rPr lang="en-US" sz="2000">
                <a:solidFill>
                  <a:srgbClr val="334155"/>
                </a:solidFill>
              </a:rPr>
              <a:t>Paint delivery and nozzle control.</a:t>
            </a:r>
          </a:p>
          <a:p>
            <a:pPr marL="342900" indent="-228600">
              <a:buChar char="•"/>
            </a:pPr>
            <a:r>
              <a:rPr lang="en-US" sz="2000">
                <a:solidFill>
                  <a:srgbClr val="334155"/>
                </a:solidFill>
              </a:rPr>
              <a:t>Wall sensing and registration.</a:t>
            </a:r>
          </a:p>
          <a:p>
            <a:pPr marL="342900" indent="-228600">
              <a:buChar char="•"/>
            </a:pPr>
            <a:r>
              <a:rPr lang="en-US" sz="2000">
                <a:solidFill>
                  <a:srgbClr val="334155"/>
                </a:solidFill>
              </a:rPr>
              <a:t>Drywall repeatability testing.</a:t>
            </a:r>
          </a:p>
          <a:p>
            <a:pPr marL="342900" indent="-228600">
              <a:buChar char="•"/>
            </a:pPr>
            <a:r>
              <a:rPr lang="en-US" sz="2000">
                <a:solidFill>
                  <a:srgbClr val="334155"/>
                </a:solidFill>
              </a:rPr>
              <a:t>Operator setup workflow.</a:t>
            </a:r>
          </a:p>
        </p:txBody>
      </p:sp>
      <p:pic>
        <p:nvPicPr>
          <p:cNvPr id="5" name="Picture 5"/>
          <p:cNvPicPr/>
          <p:nvPr/>
        </p:nvPicPr>
        <p:blipFill>
          <a:blip r:embed="rId1"/>
          <a:stretch>
            <a:fillRect/>
          </a:stretch>
        </p:blipFill>
        <p:spPr>
          <a:xfrm>
            <a:off x="6080760" y="1743155"/>
            <a:ext cx="5440680" cy="3371689"/>
          </a:xfrm>
          <a:prstGeom prst="rect">
            <a:avLst/>
          </a:prstGeom>
        </p:spPr>
      </p:pic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8FAFC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2"/>
          <p:cNvSpPr txBox="1"/>
          <p:nvPr/>
        </p:nvSpPr>
        <p:spPr>
          <a:xfrm>
            <a:off x="594360" y="457200"/>
            <a:ext cx="5120640" cy="320040"/>
          </a:xfrm>
          <a:prstGeom prst="rect">
            <a:avLst/>
          </a:prstGeom>
          <a:noFill/>
          <a:ln>
            <a:noFill/>
          </a:ln>
        </p:spPr>
        <p:txBody>
          <a:bodyPr wrap="square"/>
          <a:lstStyle/>
          <a:p>
            <a:r>
              <a:rPr lang="en-US" sz="1200" b="1">
                <a:solidFill>
                  <a:srgbClr val="1F6FEB"/>
                </a:solidFill>
              </a:rPr>
              <a:t>A8. Risks and mitigations</a:t>
            </a:r>
          </a:p>
        </p:txBody>
      </p:sp>
      <p:sp>
        <p:nvSpPr>
          <p:cNvPr id="3" name="Text 3"/>
          <p:cNvSpPr txBox="1"/>
          <p:nvPr/>
        </p:nvSpPr>
        <p:spPr>
          <a:xfrm>
            <a:off x="594360" y="841248"/>
            <a:ext cx="5303520" cy="1463040"/>
          </a:xfrm>
          <a:prstGeom prst="rect">
            <a:avLst/>
          </a:prstGeom>
          <a:noFill/>
          <a:ln>
            <a:noFill/>
          </a:ln>
        </p:spPr>
        <p:txBody>
          <a:bodyPr wrap="square"/>
          <a:lstStyle/>
          <a:p>
            <a:r>
              <a:rPr lang="en-US" sz="3000" b="1">
                <a:solidFill>
                  <a:srgbClr val="17202A"/>
                </a:solidFill>
              </a:rPr>
              <a:t>The key risks are practical and testable.</a:t>
            </a:r>
          </a:p>
        </p:txBody>
      </p:sp>
      <p:sp>
        <p:nvSpPr>
          <p:cNvPr id="4" name="Bullets 4"/>
          <p:cNvSpPr txBox="1"/>
          <p:nvPr/>
        </p:nvSpPr>
        <p:spPr>
          <a:xfrm>
            <a:off x="621792" y="2514600"/>
            <a:ext cx="5120640" cy="3383280"/>
          </a:xfrm>
          <a:prstGeom prst="rect">
            <a:avLst/>
          </a:prstGeom>
          <a:noFill/>
          <a:ln>
            <a:noFill/>
          </a:ln>
        </p:spPr>
        <p:txBody>
          <a:bodyPr wrap="square"/>
          <a:lstStyle/>
          <a:p>
            <a:pPr marL="342900" indent="-228600">
              <a:buChar char="•"/>
            </a:pPr>
            <a:r>
              <a:rPr lang="en-US" sz="2000">
                <a:solidFill>
                  <a:srgbClr val="334155"/>
                </a:solidFill>
              </a:rPr>
              <a:t>Surface quality: test nozzle spacing, flow rate, and overlap.</a:t>
            </a:r>
          </a:p>
          <a:p>
            <a:pPr marL="342900" indent="-228600">
              <a:buChar char="•"/>
            </a:pPr>
            <a:r>
              <a:rPr lang="en-US" sz="2000">
                <a:solidFill>
                  <a:srgbClr val="334155"/>
                </a:solidFill>
              </a:rPr>
              <a:t>Wall localization: add sensing and calibration before each room run.</a:t>
            </a:r>
          </a:p>
          <a:p>
            <a:pPr marL="342900" indent="-228600">
              <a:buChar char="•"/>
            </a:pPr>
            <a:r>
              <a:rPr lang="en-US" sz="2000">
                <a:solidFill>
                  <a:srgbClr val="334155"/>
                </a:solidFill>
              </a:rPr>
              <a:t>Setup time: design a simple operator workflow.</a:t>
            </a:r>
          </a:p>
          <a:p>
            <a:pPr marL="342900" indent="-228600">
              <a:buChar char="•"/>
            </a:pPr>
            <a:r>
              <a:rPr lang="en-US" sz="2000">
                <a:solidFill>
                  <a:srgbClr val="334155"/>
                </a:solidFill>
              </a:rPr>
              <a:t>Safety: limit speed and define a supervised work envelope.</a:t>
            </a:r>
          </a:p>
        </p:txBody>
      </p:sp>
      <p:pic>
        <p:nvPicPr>
          <p:cNvPr id="5" name="Picture 5"/>
          <p:cNvPicPr/>
          <p:nvPr/>
        </p:nvPicPr>
        <p:blipFill>
          <a:blip r:embed="rId1"/>
          <a:stretch>
            <a:fillRect/>
          </a:stretch>
        </p:blipFill>
        <p:spPr>
          <a:xfrm>
            <a:off x="6320631" y="777240"/>
            <a:ext cx="4960937" cy="5303520"/>
          </a:xfrm>
          <a:prstGeom prst="rect">
            <a:avLst/>
          </a:prstGeom>
        </p:spPr>
      </p:pic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8FAFC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2"/>
          <p:cNvSpPr txBox="1"/>
          <p:nvPr/>
        </p:nvSpPr>
        <p:spPr>
          <a:xfrm>
            <a:off x="594360" y="457200"/>
            <a:ext cx="5120640" cy="320040"/>
          </a:xfrm>
          <a:prstGeom prst="rect">
            <a:avLst/>
          </a:prstGeom>
          <a:noFill/>
          <a:ln>
            <a:noFill/>
          </a:ln>
        </p:spPr>
        <p:txBody>
          <a:bodyPr wrap="square"/>
          <a:lstStyle/>
          <a:p>
            <a:r>
              <a:rPr lang="en-US" sz="1200" b="1">
                <a:solidFill>
                  <a:srgbClr val="1F6FEB"/>
                </a:solidFill>
              </a:rPr>
              <a:t>A9. Funding use</a:t>
            </a:r>
          </a:p>
        </p:txBody>
      </p:sp>
      <p:sp>
        <p:nvSpPr>
          <p:cNvPr id="3" name="Text 3"/>
          <p:cNvSpPr txBox="1"/>
          <p:nvPr/>
        </p:nvSpPr>
        <p:spPr>
          <a:xfrm>
            <a:off x="594360" y="841248"/>
            <a:ext cx="5303520" cy="1463040"/>
          </a:xfrm>
          <a:prstGeom prst="rect">
            <a:avLst/>
          </a:prstGeom>
          <a:noFill/>
          <a:ln>
            <a:noFill/>
          </a:ln>
        </p:spPr>
        <p:txBody>
          <a:bodyPr wrap="square"/>
          <a:lstStyle/>
          <a:p>
            <a:r>
              <a:rPr lang="en-US" sz="3000" b="1">
                <a:solidFill>
                  <a:srgbClr val="17202A"/>
                </a:solidFill>
              </a:rPr>
              <a:t>Funding turns the validated simulation into a prototype.</a:t>
            </a:r>
          </a:p>
        </p:txBody>
      </p:sp>
      <p:sp>
        <p:nvSpPr>
          <p:cNvPr id="4" name="Bullets 4"/>
          <p:cNvSpPr txBox="1"/>
          <p:nvPr/>
        </p:nvSpPr>
        <p:spPr>
          <a:xfrm>
            <a:off x="621792" y="2514600"/>
            <a:ext cx="5120640" cy="3383280"/>
          </a:xfrm>
          <a:prstGeom prst="rect">
            <a:avLst/>
          </a:prstGeom>
          <a:noFill/>
          <a:ln>
            <a:noFill/>
          </a:ln>
        </p:spPr>
        <p:txBody>
          <a:bodyPr wrap="square"/>
          <a:lstStyle/>
          <a:p>
            <a:pPr marL="342900" indent="-228600">
              <a:buChar char="•"/>
            </a:pPr>
            <a:r>
              <a:rPr lang="en-US" sz="2000">
                <a:solidFill>
                  <a:srgbClr val="334155"/>
                </a:solidFill>
              </a:rPr>
              <a:t>Build a first portable mechanism.</a:t>
            </a:r>
          </a:p>
          <a:p>
            <a:pPr marL="342900" indent="-228600">
              <a:buChar char="•"/>
            </a:pPr>
            <a:r>
              <a:rPr lang="en-US" sz="2000">
                <a:solidFill>
                  <a:srgbClr val="334155"/>
                </a:solidFill>
              </a:rPr>
              <a:t>Integrate paint delivery hardware.</a:t>
            </a:r>
          </a:p>
          <a:p>
            <a:pPr marL="342900" indent="-228600">
              <a:buChar char="•"/>
            </a:pPr>
            <a:r>
              <a:rPr lang="en-US" sz="2000">
                <a:solidFill>
                  <a:srgbClr val="334155"/>
                </a:solidFill>
              </a:rPr>
              <a:t>Add sensing and calibration.</a:t>
            </a:r>
          </a:p>
          <a:p>
            <a:pPr marL="342900" indent="-228600">
              <a:buChar char="•"/>
            </a:pPr>
            <a:r>
              <a:rPr lang="en-US" sz="2000">
                <a:solidFill>
                  <a:srgbClr val="334155"/>
                </a:solidFill>
              </a:rPr>
              <a:t>Run repeatability and finish-quality trials.</a:t>
            </a:r>
          </a:p>
        </p:txBody>
      </p:sp>
      <p:pic>
        <p:nvPicPr>
          <p:cNvPr id="5" name="Picture 5"/>
          <p:cNvPicPr/>
          <p:nvPr/>
        </p:nvPicPr>
        <p:blipFill>
          <a:blip r:embed="rId1"/>
          <a:stretch>
            <a:fillRect/>
          </a:stretch>
        </p:blipFill>
        <p:spPr>
          <a:xfrm>
            <a:off x="6080760" y="1743155"/>
            <a:ext cx="5440680" cy="3371689"/>
          </a:xfrm>
          <a:prstGeom prst="rect">
            <a:avLst/>
          </a:prstGeom>
        </p:spPr>
      </p:pic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111827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2"/>
          <p:cNvSpPr txBox="1"/>
          <p:nvPr/>
        </p:nvSpPr>
        <p:spPr>
          <a:xfrm>
            <a:off x="1143000" y="2240280"/>
            <a:ext cx="9875520" cy="822960"/>
          </a:xfrm>
          <a:prstGeom prst="rect">
            <a:avLst/>
          </a:prstGeom>
          <a:noFill/>
          <a:ln>
            <a:noFill/>
          </a:ln>
        </p:spPr>
        <p:txBody>
          <a:bodyPr wrap="square"/>
          <a:lstStyle/>
          <a:p>
            <a:r>
              <a:rPr lang="en-US" sz="4400" b="1">
                <a:solidFill>
                  <a:srgbClr val="FFFFFF"/>
                </a:solidFill>
              </a:rPr>
              <a:t>A focused wedge into construction automation.</a:t>
            </a:r>
          </a:p>
        </p:txBody>
      </p:sp>
      <p:sp>
        <p:nvSpPr>
          <p:cNvPr id="3" name="Text 3"/>
          <p:cNvSpPr txBox="1"/>
          <p:nvPr/>
        </p:nvSpPr>
        <p:spPr>
          <a:xfrm>
            <a:off x="1417320" y="3154680"/>
            <a:ext cx="9326880" cy="1280160"/>
          </a:xfrm>
          <a:prstGeom prst="rect">
            <a:avLst/>
          </a:prstGeom>
          <a:noFill/>
          <a:ln>
            <a:noFill/>
          </a:ln>
        </p:spPr>
        <p:txBody>
          <a:bodyPr wrap="square"/>
          <a:lstStyle/>
          <a:p>
            <a:r>
              <a:rPr lang="en-US" sz="2200" b="0">
                <a:solidFill>
                  <a:srgbClr val="E5EDF7"/>
                </a:solidFill>
              </a:rPr>
              <a:t>RoboRoll begins with repeatable interior painting, proves value in controlled room-scale tasks, and expands toward broader finishing automation.</a:t>
            </a:r>
          </a:p>
        </p:txBody>
      </p:sp>
    </p:spTree>
  </p:cSld>
  <p:clrMapOvr>
    <a:masterClrMapping/>
  </p:clrMapOvr>
</p:sld>
</file>
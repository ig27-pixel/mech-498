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mockup_robo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79476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FC0FF"/>
                </a:solidFill>
                <a:latin typeface="Arial"/>
              </a:rPr>
              <a:t>STARTUP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42232"/>
            <a:ext cx="7772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RoboRoll Coatings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57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5EDF7"/>
                </a:solidFill>
                <a:latin typeface="Arial"/>
              </a:rPr>
              <a:t>Robotic wall painting for faster, safer, more repeatable interior finishing.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Interior painting is still a manual bottleneck.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176272"/>
            <a:ext cx="55321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•  Repetitive wall coverage consumes crew hours.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•  Quality changes with fatigue, reach, lighting, and setup consistency.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•  Labor bottlenecks delay final construction turnover.</a:t>
            </a:r>
          </a:p>
        </p:txBody>
      </p:sp>
      <p:pic>
        <p:nvPicPr>
          <p:cNvPr id="5" name="Picture 4" descr="mockup_problem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91875"/>
            <a:ext cx="5120640" cy="5474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2.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Construction needs focused automation that helps crews 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76272"/>
            <a:ext cx="5577840" cy="50292"/>
          </a:xfrm>
          <a:prstGeom prst="rect">
            <a:avLst/>
          </a:prstGeom>
          <a:solidFill>
            <a:srgbClr val="1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49424"/>
            <a:ext cx="5577840" cy="131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Common task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Painting shows up across apartments, commercial spaces, and new builds.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691128"/>
            <a:ext cx="5577840" cy="50292"/>
          </a:xfrm>
          <a:prstGeom prst="rect">
            <a:avLst/>
          </a:prstGeom>
          <a:solidFill>
            <a:srgbClr val="1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764280"/>
            <a:ext cx="5577840" cy="131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Repeatable work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Large wall areas create predictable paths that a robot can execute.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205984"/>
            <a:ext cx="5577840" cy="50292"/>
          </a:xfrm>
          <a:prstGeom prst="rect">
            <a:avLst/>
          </a:prstGeom>
          <a:solidFill>
            <a:srgbClr val="1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279136"/>
            <a:ext cx="5577840" cy="131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Schedule value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Fewer rework passes mean more predictable finishing timelines.</a:t>
            </a:r>
          </a:p>
        </p:txBody>
      </p:sp>
      <p:pic>
        <p:nvPicPr>
          <p:cNvPr id="10" name="Picture 9" descr="mockup_market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3875"/>
            <a:ext cx="5120640" cy="2830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3.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A portable 4-DOF robot that follows planned wall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176272"/>
            <a:ext cx="55321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•  Base yaw aims the arm around the room.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•  Shoulder, elbow, and wrist place the nozzle on target.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•  Inverse kinematics converts wall points into smooth joint motion.</a:t>
            </a:r>
          </a:p>
        </p:txBody>
      </p:sp>
      <p:pic>
        <p:nvPicPr>
          <p:cNvPr id="5" name="Picture 4" descr="mockup_robo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91875"/>
            <a:ext cx="5120640" cy="5474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4. 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The simulated robot already paints across two walls.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176272"/>
            <a:ext cx="55321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•  Wall 1: smiley face — outline, eyes, and smile arc.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•  Wall 2: five horizontal color stripes.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•  Curved paths prove more than straight-line coverage.</a:t>
            </a:r>
          </a:p>
        </p:txBody>
      </p:sp>
      <p:pic>
        <p:nvPicPr>
          <p:cNvPr id="5" name="Picture 4" descr="mockup_product_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112" y="502920"/>
            <a:ext cx="3178335" cy="2852928"/>
          </a:xfrm>
          <a:prstGeom prst="rect">
            <a:avLst/>
          </a:prstGeom>
        </p:spPr>
      </p:pic>
      <p:pic>
        <p:nvPicPr>
          <p:cNvPr id="6" name="Picture 5" descr="mockup_product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12" y="3502152"/>
            <a:ext cx="3178335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5. 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RoboRoll starts with one focused construction task.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76272"/>
            <a:ext cx="5577840" cy="50292"/>
          </a:xfrm>
          <a:prstGeom prst="rect">
            <a:avLst/>
          </a:prstGeom>
          <a:solidFill>
            <a:srgbClr val="1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49424"/>
            <a:ext cx="5577840" cy="131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Focused wedge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Interior wall finishing is narrow enough for a first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691128"/>
            <a:ext cx="5577840" cy="50292"/>
          </a:xfrm>
          <a:prstGeom prst="rect">
            <a:avLst/>
          </a:prstGeom>
          <a:solidFill>
            <a:srgbClr val="1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764280"/>
            <a:ext cx="5577840" cy="131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Technical proof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FK, IK, trajectory generation, and dynamics are already simulated.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205984"/>
            <a:ext cx="5577840" cy="50292"/>
          </a:xfrm>
          <a:prstGeom prst="rect">
            <a:avLst/>
          </a:prstGeom>
          <a:solidFill>
            <a:srgbClr val="1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279136"/>
            <a:ext cx="5577840" cy="131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The ask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Seed funding turns the validated simulation into a portable prototype.</a:t>
            </a:r>
          </a:p>
        </p:txBody>
      </p:sp>
      <p:pic>
        <p:nvPicPr>
          <p:cNvPr id="10" name="Picture 9" descr="mockup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42323"/>
            <a:ext cx="5120640" cy="3173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91840"/>
            <a:ext cx="110578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DF7"/>
                </a:solidFill>
                <a:latin typeface="Arial"/>
              </a:rPr>
              <a:t>RoboRoll Coatings — robotic painting for the next generation of construction crews.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53312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FC0FF"/>
                </a:solidFill>
                <a:latin typeface="Arial"/>
              </a:rPr>
              <a:t>ADDITIONAL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Leave-Behind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926080"/>
            <a:ext cx="110578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DF7"/>
                </a:solidFill>
                <a:latin typeface="Arial"/>
              </a:rPr>
              <a:t>The following slides provide the fuller technical, market, and roadmap 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A1. BEACHHEAD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Start with multifamily apartment turns.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76272"/>
            <a:ext cx="5577840" cy="50292"/>
          </a:xfrm>
          <a:prstGeom prst="rect">
            <a:avLst/>
          </a:prstGeom>
          <a:solidFill>
            <a:srgbClr val="1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49424"/>
            <a:ext cx="5577840" cy="131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Why first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Similar room layouts create repeatable painting paths.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691128"/>
            <a:ext cx="5577840" cy="50292"/>
          </a:xfrm>
          <a:prstGeom prst="rect">
            <a:avLst/>
          </a:prstGeom>
          <a:solidFill>
            <a:srgbClr val="1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764280"/>
            <a:ext cx="5577840" cy="131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Buyer pain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Turnover schedules are tight; labor availability affects move-in dates.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205984"/>
            <a:ext cx="5577840" cy="50292"/>
          </a:xfrm>
          <a:prstGeom prst="rect">
            <a:avLst/>
          </a:prstGeom>
          <a:solidFill>
            <a:srgbClr val="1B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279136"/>
            <a:ext cx="5577840" cy="131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Next markets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Commercial interiors and new-build finishing once setup is proven.</a:t>
            </a:r>
          </a:p>
        </p:txBody>
      </p:sp>
      <p:pic>
        <p:nvPicPr>
          <p:cNvPr id="10" name="Picture 9" descr="mockup_market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3875"/>
            <a:ext cx="5120640" cy="2830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A2. CUSTOMER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RoboRoll helps one operator supervise repeatable wall coverage.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76272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49424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1  Position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Roll the robot into the room near the target wall.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312414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385566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2  Calibrate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Register the wall plane and reachable painting area.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448556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521708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3  Paint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Execute planned coverage paths with human supervision.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584698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657850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4  Verify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Inspect coverage, refill, and move to the next room.</a:t>
            </a:r>
          </a:p>
        </p:txBody>
      </p:sp>
      <p:pic>
        <p:nvPicPr>
          <p:cNvPr id="12" name="Picture 11" descr="mockup_robo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91875"/>
            <a:ext cx="5120640" cy="5474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A3. ROBOT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The first design is intentionally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176272"/>
            <a:ext cx="55321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•  4 revolute joints: base yaw, shoulder pitch, elbow pitch, wrist pitch.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•  500 mm base height with 700 mm and 500 mm arm links.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•  200 mm nozzle offset for reaching the wall surface.</a:t>
            </a:r>
          </a:p>
        </p:txBody>
      </p:sp>
      <p:pic>
        <p:nvPicPr>
          <p:cNvPr id="5" name="Picture 4" descr="mockup_nozzle_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91875"/>
            <a:ext cx="5120640" cy="5474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A4. KINEMATICS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The robot can turn wall targets into joint commands.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176272"/>
            <a:ext cx="55321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•  Forward kinematics verifies the end-effector pose.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•  Inverse kinematics solves reachable wall targets.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•  Joint limits prevent unrealistic poses during planning.</a:t>
            </a:r>
          </a:p>
        </p:txBody>
      </p:sp>
      <p:pic>
        <p:nvPicPr>
          <p:cNvPr id="5" name="Picture 4" descr="mockup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91875"/>
            <a:ext cx="5120640" cy="5474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A5. DEMO PATH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The demo combines coverage and detail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176272"/>
            <a:ext cx="55321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•  Hundreds of rendered frames across both walls.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•  Smoothstep interpolation between IK waypoints.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•  Lift motions prevent unwanted diagonal paint marks.</a:t>
            </a:r>
          </a:p>
        </p:txBody>
      </p:sp>
      <p:pic>
        <p:nvPicPr>
          <p:cNvPr id="5" name="Picture 4" descr="mockup_path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167530"/>
            <a:ext cx="5120640" cy="45229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A6. DYNAMICS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The simulation includes physical reasoning.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176272"/>
            <a:ext cx="553212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•  Passive motion checks kinetic, potential, and total energy behavior.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•  PD plus gravity feedforward controls motion to a painting target.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5B6673"/>
                </a:solidFill>
                <a:latin typeface="Arial"/>
              </a:rPr>
              <a:t>•  Torque and velocity plots support physically reasonable motion.</a:t>
            </a:r>
          </a:p>
        </p:txBody>
      </p:sp>
      <p:pic>
        <p:nvPicPr>
          <p:cNvPr id="5" name="Picture 4" descr="dynamics_pas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948" y="502920"/>
            <a:ext cx="3680663" cy="2852928"/>
          </a:xfrm>
          <a:prstGeom prst="rect">
            <a:avLst/>
          </a:prstGeom>
        </p:spPr>
      </p:pic>
      <p:pic>
        <p:nvPicPr>
          <p:cNvPr id="6" name="Picture 5" descr="dynamics_contro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309" y="3502152"/>
            <a:ext cx="4671941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A7. 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The next milestones move from simulation to hardware.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76272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49424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End effector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Prototype paint delivery and nozzle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312414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385566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Calibration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Add wall sensing and room registration.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448556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521708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Testing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Measure repeatability on drywall panels.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584698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657850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Workflow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Build the operator setup process.</a:t>
            </a:r>
          </a:p>
        </p:txBody>
      </p:sp>
      <p:pic>
        <p:nvPicPr>
          <p:cNvPr id="12" name="Picture 11" descr="mockup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42323"/>
            <a:ext cx="5120640" cy="31733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A8. 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The key risks are practical and testable.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76272"/>
            <a:ext cx="5446623" cy="50292"/>
          </a:xfrm>
          <a:prstGeom prst="rect">
            <a:avLst/>
          </a:prstGeom>
          <a:solidFill>
            <a:srgbClr val="D65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49424"/>
            <a:ext cx="544662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Surface quality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Test nozzle spacing, flow rate, and overlap on drywall panels.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8143" y="2176272"/>
            <a:ext cx="5446623" cy="50292"/>
          </a:xfrm>
          <a:prstGeom prst="rect">
            <a:avLst/>
          </a:prstGeom>
          <a:solidFill>
            <a:srgbClr val="D65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8143" y="2249424"/>
            <a:ext cx="544662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Wall localization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Add sensing and calibration before each room run.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453128"/>
            <a:ext cx="5446623" cy="50292"/>
          </a:xfrm>
          <a:prstGeom prst="rect">
            <a:avLst/>
          </a:prstGeom>
          <a:solidFill>
            <a:srgbClr val="D65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526280"/>
            <a:ext cx="544662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Setup time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Design a simple operator workflow with repeatable presets.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4453128"/>
            <a:ext cx="5446623" cy="50292"/>
          </a:xfrm>
          <a:prstGeom prst="rect">
            <a:avLst/>
          </a:prstGeom>
          <a:solidFill>
            <a:srgbClr val="D65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8143" y="4526280"/>
            <a:ext cx="544662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Safety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Limit speed, add supervised operation, and define a work envelope.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  <a:latin typeface="Arial"/>
              </a:rPr>
              <a:t>A9. FUNDING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7202A"/>
                </a:solidFill>
                <a:latin typeface="Arial"/>
              </a:rPr>
              <a:t>Funding turns the validated simulation into a prototype.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76272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249424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Arm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Build a first portable mechanism.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312414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385566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Paint tool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Integrate nozzle, flow, and cleanup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448556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521708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Sensing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Add wall plane detection and calibration.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584698"/>
            <a:ext cx="5577840" cy="502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657850"/>
            <a:ext cx="5577840" cy="93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202A"/>
                </a:solidFill>
                <a:latin typeface="Arial"/>
              </a:rPr>
              <a:t>Testing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B6673"/>
                </a:solidFill>
                <a:latin typeface="Arial"/>
              </a:rPr>
              <a:t>Run repeatability and finish-quality trials.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A focused wedge into construction automation.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91840"/>
            <a:ext cx="110578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5EDF7"/>
                </a:solidFill>
                <a:latin typeface="Arial"/>
              </a:rPr>
              <a:t>RoboRoll begins with repeatable interior painting, proves value in controlled room-scale tasks, and expands toward broader finishing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